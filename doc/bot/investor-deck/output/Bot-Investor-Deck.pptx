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5f328f8ea4daa" /><Relationship Type="http://schemas.openxmlformats.org/officeDocument/2006/relationships/extended-properties" Target="/docProps/app.xml" Id="R560787794bc74692" /><Relationship Type="http://schemas.openxmlformats.org/officeDocument/2006/relationships/officeDocument" Target="/ppt/presentation.xml" Id="R162a2286f38541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499a46be4a4d11"/>
  </p:sldMasterIdLst>
  <p:notesMasterIdLst>
    <p:notesMasterId xmlns:r="http://schemas.openxmlformats.org/officeDocument/2006/relationships" r:id="R0610ba0ead4d48f5"/>
  </p:notesMasterIdLst>
  <p:sldIdLst>
    <p:sldId xmlns:r="http://schemas.openxmlformats.org/officeDocument/2006/relationships" id="256" r:id="R09fe11cdc8e64c48"/>
    <p:sldId xmlns:r="http://schemas.openxmlformats.org/officeDocument/2006/relationships" id="257" r:id="Ra0ddee0144cb47cc"/>
    <p:sldId xmlns:r="http://schemas.openxmlformats.org/officeDocument/2006/relationships" id="258" r:id="R41f8d07fcd2049cb"/>
    <p:sldId xmlns:r="http://schemas.openxmlformats.org/officeDocument/2006/relationships" id="259" r:id="R036f67704bc447c5"/>
    <p:sldId xmlns:r="http://schemas.openxmlformats.org/officeDocument/2006/relationships" id="260" r:id="R86d566a8c43e4406"/>
    <p:sldId xmlns:r="http://schemas.openxmlformats.org/officeDocument/2006/relationships" id="261" r:id="Rde66223d4c594600"/>
    <p:sldId xmlns:r="http://schemas.openxmlformats.org/officeDocument/2006/relationships" id="262" r:id="R7805619710724bca"/>
    <p:sldId xmlns:r="http://schemas.openxmlformats.org/officeDocument/2006/relationships" id="263" r:id="Re6a09cce2dd64ffb"/>
    <p:sldId xmlns:r="http://schemas.openxmlformats.org/officeDocument/2006/relationships" id="264" r:id="R1eb91893c692452d"/>
    <p:sldId xmlns:r="http://schemas.openxmlformats.org/officeDocument/2006/relationships" id="265" r:id="Rc96ae83df97d44b7"/>
    <p:sldId xmlns:r="http://schemas.openxmlformats.org/officeDocument/2006/relationships" id="266" r:id="Rbc1a04b56c8e4f27"/>
    <p:sldId xmlns:r="http://schemas.openxmlformats.org/officeDocument/2006/relationships" id="267" r:id="Rac30a395dd5a4232"/>
    <p:sldId xmlns:r="http://schemas.openxmlformats.org/officeDocument/2006/relationships" id="268" r:id="R5c882d1d28234837"/>
    <p:sldId xmlns:r="http://schemas.openxmlformats.org/officeDocument/2006/relationships" id="269" r:id="Rc8de10e5d5c143eb"/>
    <p:sldId xmlns:r="http://schemas.openxmlformats.org/officeDocument/2006/relationships" id="270" r:id="R4af10476f18649fe"/>
    <p:sldId xmlns:r="http://schemas.openxmlformats.org/officeDocument/2006/relationships" id="271" r:id="R30e7aced52e94955"/>
    <p:sldId xmlns:r="http://schemas.openxmlformats.org/officeDocument/2006/relationships" id="272" r:id="R4a4345cd19cd4ad6"/>
    <p:sldId xmlns:r="http://schemas.openxmlformats.org/officeDocument/2006/relationships" id="273" r:id="Rcb7f083087084d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f59480ae14d50" /><Relationship Type="http://schemas.openxmlformats.org/officeDocument/2006/relationships/slideMaster" Target="/ppt/slideMasters/slideMaster1.xml" Id="R17499a46be4a4d11" /><Relationship Type="http://schemas.openxmlformats.org/officeDocument/2006/relationships/notesMaster" Target="/ppt/notesMasters/notesMaster1.xml" Id="R0610ba0ead4d48f5" /><Relationship Type="http://schemas.openxmlformats.org/officeDocument/2006/relationships/presProps" Target="/ppt/presProps.xml" Id="R51576fe2034a4108" /><Relationship Type="http://schemas.openxmlformats.org/officeDocument/2006/relationships/tableStyles" Target="/ppt/tableStyles.xml" Id="Rd82503f66797426c" /><Relationship Type="http://schemas.openxmlformats.org/officeDocument/2006/relationships/slide" Target="/ppt/slides/slide1.xml" Id="R09fe11cdc8e64c48" /><Relationship Type="http://schemas.openxmlformats.org/officeDocument/2006/relationships/slide" Target="/ppt/slides/slide2.xml" Id="Ra0ddee0144cb47cc" /><Relationship Type="http://schemas.openxmlformats.org/officeDocument/2006/relationships/slide" Target="/ppt/slides/slide3.xml" Id="R41f8d07fcd2049cb" /><Relationship Type="http://schemas.openxmlformats.org/officeDocument/2006/relationships/slide" Target="/ppt/slides/slide4.xml" Id="R036f67704bc447c5" /><Relationship Type="http://schemas.openxmlformats.org/officeDocument/2006/relationships/slide" Target="/ppt/slides/slide5.xml" Id="R86d566a8c43e4406" /><Relationship Type="http://schemas.openxmlformats.org/officeDocument/2006/relationships/slide" Target="/ppt/slides/slide6.xml" Id="Rde66223d4c594600" /><Relationship Type="http://schemas.openxmlformats.org/officeDocument/2006/relationships/slide" Target="/ppt/slides/slide7.xml" Id="R7805619710724bca" /><Relationship Type="http://schemas.openxmlformats.org/officeDocument/2006/relationships/slide" Target="/ppt/slides/slide8.xml" Id="Re6a09cce2dd64ffb" /><Relationship Type="http://schemas.openxmlformats.org/officeDocument/2006/relationships/slide" Target="/ppt/slides/slide9.xml" Id="R1eb91893c692452d" /><Relationship Type="http://schemas.openxmlformats.org/officeDocument/2006/relationships/slide" Target="/ppt/slides/slide10.xml" Id="Rc96ae83df97d44b7" /><Relationship Type="http://schemas.openxmlformats.org/officeDocument/2006/relationships/slide" Target="/ppt/slides/slide11.xml" Id="Rbc1a04b56c8e4f27" /><Relationship Type="http://schemas.openxmlformats.org/officeDocument/2006/relationships/slide" Target="/ppt/slides/slide12.xml" Id="Rac30a395dd5a4232" /><Relationship Type="http://schemas.openxmlformats.org/officeDocument/2006/relationships/slide" Target="/ppt/slides/slide13.xml" Id="R5c882d1d28234837" /><Relationship Type="http://schemas.openxmlformats.org/officeDocument/2006/relationships/slide" Target="/ppt/slides/slide14.xml" Id="Rc8de10e5d5c143eb" /><Relationship Type="http://schemas.openxmlformats.org/officeDocument/2006/relationships/slide" Target="/ppt/slides/slide15.xml" Id="R4af10476f18649fe" /><Relationship Type="http://schemas.openxmlformats.org/officeDocument/2006/relationships/slide" Target="/ppt/slides/slide16.xml" Id="R30e7aced52e94955" /><Relationship Type="http://schemas.openxmlformats.org/officeDocument/2006/relationships/slide" Target="/ppt/slides/slide17.xml" Id="R4a4345cd19cd4ad6" /><Relationship Type="http://schemas.openxmlformats.org/officeDocument/2006/relationships/slide" Target="/ppt/slides/slide18.xml" Id="Rcb7f083087084d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fc56d0e86a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71f982720486f" /><Relationship Type="http://schemas.openxmlformats.org/officeDocument/2006/relationships/notesMaster" Target="/ppt/notesMasters/notesMaster1.xml" Id="Rd250e4b414a74a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4a04647de4cb9" /><Relationship Type="http://schemas.openxmlformats.org/officeDocument/2006/relationships/notesMaster" Target="/ppt/notesMasters/notesMaster1.xml" Id="R014624cdfb07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525f9824c4cc6" /><Relationship Type="http://schemas.openxmlformats.org/officeDocument/2006/relationships/notesMaster" Target="/ppt/notesMasters/notesMaster1.xml" Id="Ra0da58a0707548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52cd695fc6407c" /><Relationship Type="http://schemas.openxmlformats.org/officeDocument/2006/relationships/notesMaster" Target="/ppt/notesMasters/notesMaster1.xml" Id="Reb7cae9e6ec942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0ace1243b14893" /><Relationship Type="http://schemas.openxmlformats.org/officeDocument/2006/relationships/notesMaster" Target="/ppt/notesMasters/notesMaster1.xml" Id="R9a4ed500288145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122581a1f04180" /><Relationship Type="http://schemas.openxmlformats.org/officeDocument/2006/relationships/notesMaster" Target="/ppt/notesMasters/notesMaster1.xml" Id="Ra7b6274356d44e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2bb51e6f9d497b" /><Relationship Type="http://schemas.openxmlformats.org/officeDocument/2006/relationships/notesMaster" Target="/ppt/notesMasters/notesMaster1.xml" Id="Reed7c7af7826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f441f22e434146" /><Relationship Type="http://schemas.openxmlformats.org/officeDocument/2006/relationships/notesMaster" Target="/ppt/notesMasters/notesMaster1.xml" Id="R313762de8d2c46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1486ebcd344185" /><Relationship Type="http://schemas.openxmlformats.org/officeDocument/2006/relationships/notesMaster" Target="/ppt/notesMasters/notesMaster1.xml" Id="R2154a82fc69c49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32b66d4a804308" /><Relationship Type="http://schemas.openxmlformats.org/officeDocument/2006/relationships/notesMaster" Target="/ppt/notesMasters/notesMaster1.xml" Id="Ra8be6a0821ef4c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e48dbb3323431c" /><Relationship Type="http://schemas.openxmlformats.org/officeDocument/2006/relationships/notesMaster" Target="/ppt/notesMasters/notesMaster1.xml" Id="R20e9fb46f45e4e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b9f76a8c2a486e" /><Relationship Type="http://schemas.openxmlformats.org/officeDocument/2006/relationships/notesMaster" Target="/ppt/notesMasters/notesMaster1.xml" Id="Rcbe9c17ae4d847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df06a515084806" /><Relationship Type="http://schemas.openxmlformats.org/officeDocument/2006/relationships/notesMaster" Target="/ppt/notesMasters/notesMaster1.xml" Id="R17e74ee8df9440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abf4ede223447f" /><Relationship Type="http://schemas.openxmlformats.org/officeDocument/2006/relationships/notesMaster" Target="/ppt/notesMasters/notesMaster1.xml" Id="R89696b6bfd0040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07ca3c4d2742a1" /><Relationship Type="http://schemas.openxmlformats.org/officeDocument/2006/relationships/notesMaster" Target="/ppt/notesMasters/notesMaster1.xml" Id="R76bc61783cf448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2a805361bb4776" /><Relationship Type="http://schemas.openxmlformats.org/officeDocument/2006/relationships/notesMaster" Target="/ppt/notesMasters/notesMaster1.xml" Id="R0b0c21967cc940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f4a698ce0df4312" /><Relationship Type="http://schemas.openxmlformats.org/officeDocument/2006/relationships/notesMaster" Target="/ppt/notesMasters/notesMaster1.xml" Id="Rb858fac445944b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c7bb75382a4744" /><Relationship Type="http://schemas.openxmlformats.org/officeDocument/2006/relationships/notesMaster" Target="/ppt/notesMasters/notesMaster1.xml" Id="R76c2735151ed46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时间：0:00–0:30</a:t>
            </a:r>
          </a:p>
          <a:p xmlns:a="http://schemas.openxmlformats.org/drawingml/2006/main">
            <a:r>
              <a:t>今天使用 Agent，用户往往还要选技能、配连接、管理会话、拆分任务。但用户真正想说的是：这件事交给你，做好后告诉我。我们把这些复杂度放进一个长期工作的 Bot。你只管目标，Bot 全天候为你工作。我用一个具体任务给大家看。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时间：0:30–3:30，停留此页后切到 Bot</a:t>
            </a:r>
          </a:p>
          <a:p xmlns:a="http://schemas.openxmlformats.org/drawingml/2006/main">
            <a:r>
              <a:t>切到已准备好的 Bot 主对话。明确材料为真实授权来源或导入的示例数据。输入任务：根据演示项目最新消息和资料，先列需要决策的事项，再列相对上一版的重要变化与下一步，每项附来源，不确定处标出，并保存报告。1:40 打开交付和一条来源；2:40 打开保存为例行任务，查看时间、时区、输出及仅变化通知。3:30 必须结束此段。等待超过20秒切到明确标注日期的真实预演，不当作当前请求结果。不得代发外部消息。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时间：3:30–4:30，切到真实历史记录</a:t>
            </a:r>
          </a:p>
          <a:p xmlns:a="http://schemas.openxmlformats.org/drawingml/2006/main">
            <a:r>
              <a:t>切到提前运行的真实历史，最多展示两次运行、一次通知状态、一条实际使用的记忆。标注时间及手动/定时触发。讲：用户不用反复交代背景，每次输入、产出与状态能查看。证据不够时明确只验证了单次运行，不能把配置保存或两次成功说成24小时可靠性认证。看完切回第4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时间：4:30–5:00</a:t>
            </a:r>
          </a:p>
          <a:p xmlns:a="http://schemas.openxmlformats.org/drawingml/2006/main">
            <a:r>
              <a:t>用户关心事情有没有接住、结果在哪里、何时需要自己决定。Skill、连接器、子任务和Teams仍是底层能力，日常使用不要求先理解它们。这是产品方向，当前并列导航尚需收敛。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时间：5:00–5:30</a:t>
            </a:r>
          </a:p>
          <a:p xmlns:a="http://schemas.openxmlformats.org/drawingml/2006/main">
            <a:r>
              <a:t>创建Bot应简单，积累背景、关联消息、偏好、方法和信任需要持续合作。可靠交付带来更多托付。留存需用重复使用、纠正减少及续费验证，不靠数据锁定。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时间：5:30–6:00</a:t>
            </a:r>
          </a:p>
          <a:p xmlns:a="http://schemas.openxmlformats.org/drawingml/2006/main">
            <a:r>
              <a:t>先面向项目负责人和小团队运营负责人。围绕消息简报、重复跟进等一到两个场景试点。探索订阅加额度，团队按协作和服务范围收费，最终以合格交付成本检验。无客户/收入数据不冒充验证。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时间：6:00–6:30</a:t>
            </a:r>
          </a:p>
          <a:p xmlns:a="http://schemas.openxmlformats.org/drawingml/2006/main">
            <a:r>
              <a:t>虚拟员工是单岗位持续交付，团队是专业分工与统一结果，黑灯工厂是规则明确数字任务的持续生产。工厂配置和只读试跑已有基础，端到端无人值守尚需按业务流程验收。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时间：6:30–7:00</a:t>
            </a:r>
          </a:p>
          <a:p xmlns:a="http://schemas.openxmlformats.org/drawingml/2006/main">
            <a:r>
              <a:t>已有基础来自产品规格，包括长期主对话、目标子任务、交付、记忆技能和例行任务。实际演示以部署验证为准。当前没有在本材料提供客户、收入、留存或可用性数据。下一阶段重点看首次交付、连续工作、付费与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时间：7:00–7:40</a:t>
            </a:r>
          </a:p>
          <a:p xmlns:a="http://schemas.openxmlformats.org/drawingml/2006/main">
            <a:r>
              <a:t>建议7人全职等效投入，包含产品负责人1、核心工程1、全栈1、接入与可靠性1、QA半人、增长1、客户成功1、内容半人。可由现有成员兼任，不等于新增7个招聘。完整6个月是42人月，分批加入按实际月份折算。外部资源包括10家设计伙伴、2类高频接入、模型资源、运行环境和渠道。附录有具体职责和产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时间：7:40–8:10</a:t>
            </a:r>
          </a:p>
          <a:p xmlns:a="http://schemas.openxmlformats.org/drawingml/2006/main">
            <a:r>
              <a:t>第1月完成20次访谈、确定2个场景和2类接入。第2至3月招募10家设计伙伴，开展4周试点，沉淀真实案例。第4至6月验证付费与续费，检查单位成本和留存，再决定投放和团队扩张。数字是计划目标，不是现有成绩，不预填转化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时间：8:10–8:30</a:t>
            </a:r>
          </a:p>
          <a:p xmlns:a="http://schemas.openxmlformats.org/drawingml/2006/main">
            <a:r>
              <a:t>资金用于产品工程、持续运行与首批客户验证。希望投资伙伴提供10家候选设计伙伴的引荐、2类软件接口合作和可测量的渠道试验。不是已经获得这些伙伴。融资额与周期以团队成本、供应商报价、实际招募和现金储备计算，不对外报未确认金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时间：8:30–9:00</a:t>
            </a:r>
          </a:p>
          <a:p xmlns:a="http://schemas.openxmlformats.org/drawingml/2006/main">
            <a:r>
              <a:t>用户最终想要的是重要消息有人跟、重复任务有人做、信息有人消化，而且不用每次重新开始。我们从一只Bot做起，让它成为可以长期托付工作的伙伴，再向团队与持续生产扩展。你只管目标，Bot全天候为你工作。谢谢，欢迎看刚才的结果，也欢迎讨论最想交给它的一项工作。主讲结束，以下6页按问答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以下是建议角色而非现有员工。产品负责人兼顾流程设计，专职设计通过阶段外包支持。3名工程分别关注运行时、全栈、接入可靠性。半职QA对应高风险回归与持续运行检查。所有验收指标先定义口径与基线。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广定义为分发、招募、激活与转化运营。20访谈、10伙伴是阶段目标。每家4周试点起点为完成必要授权和首次任务。每周复盘交付，记录渠道到有效交付到付费，不能以曝光量替代客户价值。没有付费与留存信号前不扩大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营销定义为定位、内容和销售材料，区别于上一页的触达执行。初期内容以真实任务前后与依据呈现，不编造效果。案例必须获授权，2份是试点后目标。渠道先按实际可触达用户试验，可选择公众号/视频号和垂直社群，不将渠道热度作为论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使用未经核实的工资或供应商价格。42人月是7FTE满6个月，外包15人日另列不计入FTE。模型1主1备需验证接口，不意味着所有请求双倍调用。dev/staging/prod是3套环境，容量随并发测算。现金预算按角色全成本、模型实际账单、供应商报价、试点和储备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这里当成已建好的统一仪表盘。已有产品统计提供部分依据，留存、归因和完整现金成本需要补充采集。验收率=已接受交付/已评审交付，同时报告未评审数；4周留存应按到期激活cohort计算；无人介入率要把等待审批与失败包含分母，避免只看成功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正式演示前完整计时排练。不要把示例报告、手动记录和预演视频讲成实时自动结果。主讲第12页结束。此页为问答或讲者备用，不加入9分钟主讲。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依据：doc/bot/00-functional-guide.md；doc/bot/11-investor-demo.md。产品状态来自仓库说明，现场能力以部署验证为准。资源人数、渠道与里程碑均为本次建议方案，未代表已有业绩或已确认预算。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d58e2ade74e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eb87c1dba4e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fe90967af4e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b55cf647442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1872a5c8844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a1c48748341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50EEF4-814B-4A48-A95B-1F3A02A65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F61617-B3AD-4373-901E-E9E0443A06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F4FA86-5A42-4BD7-AF54-6179F8636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308AA6-5114-45FF-8496-C66DCB189A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082FC2-9486-4B7F-A4A8-CB693793AB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67A726-2C52-4598-BB59-52092ACE6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B2DF61-C778-4680-A642-CEE1AAA126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458141-611E-40FE-B281-44A0ABB68F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DA42B1-175C-437D-A54E-521168B02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2CF3F3-6787-4365-AC42-3A701634AE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bab7e6dcb4ba1" /><Relationship Type="http://schemas.openxmlformats.org/officeDocument/2006/relationships/slideLayout" Target="/ppt/slideLayouts/slideLayout1.xml" Id="Rfa7c56c4e24d4b9b" /><Relationship Type="http://schemas.openxmlformats.org/officeDocument/2006/relationships/slideLayout" Target="/ppt/slideLayouts/slideLayout2.xml" Id="R6a2e573e1cc04919" /><Relationship Type="http://schemas.openxmlformats.org/officeDocument/2006/relationships/slideLayout" Target="/ppt/slideLayouts/slideLayout3.xml" Id="Raddd2c562a534c43" /><Relationship Type="http://schemas.openxmlformats.org/officeDocument/2006/relationships/slideLayout" Target="/ppt/slideLayouts/slideLayout4.xml" Id="R5874e4770cf84d88" /><Relationship Type="http://schemas.openxmlformats.org/officeDocument/2006/relationships/slideLayout" Target="/ppt/slideLayouts/slideLayout5.xml" Id="Rcfe4809643cc47ea" /><Relationship Type="http://schemas.openxmlformats.org/officeDocument/2006/relationships/slideLayout" Target="/ppt/slideLayouts/slideLayout6.xml" Id="R9a74ce5b58c44e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c56c4e24d4b9b"/>
    <p:sldLayoutId xmlns:r="http://schemas.openxmlformats.org/officeDocument/2006/relationships" id="2147483650" r:id="R6a2e573e1cc04919"/>
    <p:sldLayoutId xmlns:r="http://schemas.openxmlformats.org/officeDocument/2006/relationships" id="2147483651" r:id="Raddd2c562a534c43"/>
    <p:sldLayoutId xmlns:r="http://schemas.openxmlformats.org/officeDocument/2006/relationships" id="2147483652" r:id="R5874e4770cf84d88"/>
    <p:sldLayoutId xmlns:r="http://schemas.openxmlformats.org/officeDocument/2006/relationships" id="2147483653" r:id="Rcfe4809643cc47ea"/>
    <p:sldLayoutId xmlns:r="http://schemas.openxmlformats.org/officeDocument/2006/relationships" id="2147483654" r:id="R9a74ce5b58c44e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1055775844d92" /><Relationship Type="http://schemas.openxmlformats.org/officeDocument/2006/relationships/notesSlide" Target="/ppt/notesSlides/notesSlide1.xml" Id="R9f7159f16eca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cc453a2a74cce" /><Relationship Type="http://schemas.openxmlformats.org/officeDocument/2006/relationships/notesSlide" Target="/ppt/notesSlides/notesSlide2.xml" Id="R92cffff4758641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1ac2cc4af4219" /><Relationship Type="http://schemas.openxmlformats.org/officeDocument/2006/relationships/notesSlide" Target="/ppt/notesSlides/notesSlide3.xml" Id="R7c9eb9d712f0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2343c587643d1" /><Relationship Type="http://schemas.openxmlformats.org/officeDocument/2006/relationships/notesSlide" Target="/ppt/notesSlides/notesSlide4.xml" Id="R60dcd6824ed245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84dd96e134b59" /><Relationship Type="http://schemas.openxmlformats.org/officeDocument/2006/relationships/notesSlide" Target="/ppt/notesSlides/notesSlide5.xml" Id="R335e401b2a6243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2c8218ca7b4ffb" /><Relationship Type="http://schemas.openxmlformats.org/officeDocument/2006/relationships/notesSlide" Target="/ppt/notesSlides/notesSlide6.xml" Id="Rc8b0e7832ac34b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06cc174c34e60" /><Relationship Type="http://schemas.openxmlformats.org/officeDocument/2006/relationships/notesSlide" Target="/ppt/notesSlides/notesSlide7.xml" Id="R8ecede0ce9ce4e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42965629c46ce" /><Relationship Type="http://schemas.openxmlformats.org/officeDocument/2006/relationships/notesSlide" Target="/ppt/notesSlides/notesSlide8.xml" Id="R8d1592efad87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4d98c61fd40d8" /><Relationship Type="http://schemas.openxmlformats.org/officeDocument/2006/relationships/notesSlide" Target="/ppt/notesSlides/notesSlide9.xml" Id="R4019003dcd854d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b23b3fb564ede" /><Relationship Type="http://schemas.openxmlformats.org/officeDocument/2006/relationships/notesSlide" Target="/ppt/notesSlides/notesSlide10.xml" Id="R1997c73e567b46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ba5c65c2f4779" /><Relationship Type="http://schemas.openxmlformats.org/officeDocument/2006/relationships/notesSlide" Target="/ppt/notesSlides/notesSlide11.xml" Id="R399137302cf04a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ac534e48a4edd" /><Relationship Type="http://schemas.openxmlformats.org/officeDocument/2006/relationships/notesSlide" Target="/ppt/notesSlides/notesSlide12.xml" Id="R809ec0dd509a40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fd0f0d0484a64" /><Relationship Type="http://schemas.openxmlformats.org/officeDocument/2006/relationships/notesSlide" Target="/ppt/notesSlides/notesSlide13.xml" Id="Rea5c9d55bfb44e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945f52c9f494e" /><Relationship Type="http://schemas.openxmlformats.org/officeDocument/2006/relationships/notesSlide" Target="/ppt/notesSlides/notesSlide14.xml" Id="R6a18bdb677db44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f1f16c27a4f55" /><Relationship Type="http://schemas.openxmlformats.org/officeDocument/2006/relationships/notesSlide" Target="/ppt/notesSlides/notesSlide15.xml" Id="Rf4481b08064a43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bf6944460475d" /><Relationship Type="http://schemas.openxmlformats.org/officeDocument/2006/relationships/notesSlide" Target="/ppt/notesSlides/notesSlide16.xml" Id="R02bb4046819b4c7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33a09ee28d4d08" /><Relationship Type="http://schemas.openxmlformats.org/officeDocument/2006/relationships/notesSlide" Target="/ppt/notesSlides/notesSlide17.xml" Id="R2980072affec43c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30dd618154eff" /><Relationship Type="http://schemas.openxmlformats.org/officeDocument/2006/relationships/notesSlide" Target="/ppt/notesSlides/notesSlide18.xml" Id="R0326959206bf48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EFDED-60E7-4A6B-8172-9463A045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BOT  /  投资人演示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3253A-920E-4D80-BD08-7EC50A82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9026E-A627-4753-AA61-B31D9980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你只管目标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AB423-DC28-4F25-A5AF-86343905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Bot 全天候为你工作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83E11-5AE3-49AC-8B90-F80DC44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C1D1C7"/>
                </a:solidFill>
                <a:latin typeface="Hiragino Sans GB"/>
                <a:ea typeface="Hiragino Sans GB"/>
                <a:cs typeface="Hiragino Sans GB"/>
              </a:rPr>
              <a:t>管消息   做重复任务   整理和消化信息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8C4BE-992A-4002-9F1D-5D4A0237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FB7AD"/>
                </a:solidFill>
                <a:latin typeface="Hiragino Sans GB"/>
                <a:ea typeface="Hiragino Sans GB"/>
                <a:cs typeface="Hiragino Sans GB"/>
              </a:rPr>
              <a:t>产品与商业验证方案  ·  2026.10</a:t>
            </a:r>
          </a:p>
        </p:txBody>
      </p:sp>
    </p:spTree>
    <p:extLst>
      <p:ext uri="{BB962C8B-B14F-4D97-AF65-F5344CB8AC3E}">
        <p14:creationId xmlns:p14="http://schemas.microsoft.com/office/powerpoint/2010/main" val="473630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67EF5-84B7-4534-9080-22AD37B9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现场演示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15E56-1109-4B17-B77F-8CEB626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把今天的消息，变成可用的工作简报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364A4-5C02-413A-B926-5BAF1F7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4405B-2EA2-43EA-AA82-8C21D8D8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01 说清目标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368F3-DD6D-4A81-BFE4-A93B8508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重要变化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待决策事项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下一步行动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98150-9D1C-439F-8307-C773F093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02 核对交付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C243F-B9F8-46B8-9736-B3D96C8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766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打开简报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核对原始来源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查看不确定项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04FC-14FB-443F-936D-7916B294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03 持续委托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12913-F02C-4500-948D-5582EF18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保存为例行任务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设定时间与输出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按约定通知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9F096-4178-492C-AB87-AC3ADD0A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现在切换到 Bot 工作台，完成后回到下一页</a:t>
            </a:r>
          </a:p>
        </p:txBody>
      </p:sp>
    </p:spTree>
    <p:extLst>
      <p:ext uri="{BB962C8B-B14F-4D97-AF65-F5344CB8AC3E}">
        <p14:creationId xmlns:p14="http://schemas.microsoft.com/office/powerpoint/2010/main" val="6802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F10D4-9215-4A06-A22F-9C17F53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现场演示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7078C-BDE8-43E9-A610-13BC0366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工作能够延续，才值得长期托付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32AA7-8469-4B77-935A-67B7CF97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86E2E-30C7-4E30-9FD5-F6816F8A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运行记录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D9254-C8F2-4231-9521-92B3674E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什么时候触发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用了哪些输入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留下什么结果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98B27-3914-44E8-9ACB-7B70DB78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工作记忆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60CA6-8AA2-49AC-A020-20608253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偏好有来源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后续可以复用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用户可以纠正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882B6-4E1F-4BE6-A710-4D773DC0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异常处理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2D793-4C9E-44EA-9096-8F8BC8B9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问题有记录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需要人时明确提示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不把未知当成功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35533-9CF4-4C9C-A029-9A0E2FB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切换到历史与记忆；看完返回第 4 页</a:t>
            </a:r>
          </a:p>
        </p:txBody>
      </p:sp>
    </p:spTree>
    <p:extLst>
      <p:ext uri="{BB962C8B-B14F-4D97-AF65-F5344CB8AC3E}">
        <p14:creationId xmlns:p14="http://schemas.microsoft.com/office/powerpoint/2010/main" val="176880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3F979-8C48-45E3-951B-29D0CA6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产品理念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30189-69D1-4A5D-A802-A9AB7528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一个目标入口，产品承接专业复杂度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D48EB-FD04-4147-9BE0-E1FB572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5D780-BBDB-44BC-88BC-B591939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用户交代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9E3AB-30E3-4728-9B59-A694AA09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目标、约束、必要决策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B2542-78D6-40F6-9887-9BBFB507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288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Bot 组织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2CCF4-8436-48F1-91F1-28D77FA1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90875"/>
            <a:ext cx="4667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上下文与能力</a:t>
            </a:r>
          </a:p>
          <a:p xmlns:a="http://schemas.openxmlformats.org/drawingml/2006/main">
            <a:pPr>
              <a:def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执行与恢复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8494D-6601-4994-B0FD-40919B5A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日常主流程围绕目标、进展与成果</a:t>
            </a:r>
          </a:p>
        </p:txBody>
      </p:sp>
    </p:spTree>
    <p:extLst>
      <p:ext uri="{BB962C8B-B14F-4D97-AF65-F5344CB8AC3E}">
        <p14:creationId xmlns:p14="http://schemas.microsoft.com/office/powerpoint/2010/main" val="216357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DDB0C-C823-43F0-8C7D-71CF3EB4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长期价值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DDDF-B25A-4074-A2F8-57888DE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越了解用户，下一次越少交代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E8C11-94A6-4BB2-B88A-C1E4A512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E6AA6-9240-4DDA-A129-ADBFAA7F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个人背景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CA6A4-7E10-423E-84F1-E0A7B33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项目与关联消息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工作偏好与约束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DDE1A-104E-4F1C-B2AD-ECE878EF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有效方法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5555D-913D-4483-B1C8-BA15E631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经过纠正的记忆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可复用的工作安排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24D2D-01CC-4931-B60F-040D693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可靠交付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24EF7-DD9C-4940-ACB0-5554B257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可核对的成果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逐步建立的信任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1ED69-99B8-41D5-87BA-38B0D6F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留存假设：少解释、少纠正，更愿意持续委托</a:t>
            </a:r>
          </a:p>
        </p:txBody>
      </p:sp>
    </p:spTree>
    <p:extLst>
      <p:ext uri="{BB962C8B-B14F-4D97-AF65-F5344CB8AC3E}">
        <p14:creationId xmlns:p14="http://schemas.microsoft.com/office/powerpoint/2010/main" val="1025638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058D2-9134-4656-B07C-B97B57F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商业模式假设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F70D8-7573-4FA3-99F2-8292559D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先验证高频工作，再验证持续付费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954D1-9D40-4D8E-9D2F-9557F36A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5EE2D-8C1D-4864-A35F-97FDCF9B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首批用户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7F68B-FB6A-4254-B114-5084D24A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项目负责人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小团队运营负责人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0BE2F-356B-4D61-9720-C2975FB6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交付价值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29A20-1818-42F6-A3EB-58487182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消息跟进更及时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重复工作更少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信息更容易采用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14E89-5DC9-483C-81E6-04ABF549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收费探索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2A586-22E3-474C-83FA-E6B5A215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订阅与使用额度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团队协作与服务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按实际成本定价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A12D3-EF1A-45A7-A545-DB93981D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付费意愿、价格与单位经济仍需试点验证</a:t>
            </a:r>
          </a:p>
        </p:txBody>
      </p:sp>
    </p:spTree>
    <p:extLst>
      <p:ext uri="{BB962C8B-B14F-4D97-AF65-F5344CB8AC3E}">
        <p14:creationId xmlns:p14="http://schemas.microsoft.com/office/powerpoint/2010/main" val="3295114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C2F7F-3CBD-4208-835D-86840E7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商业扩展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61ECC-8592-4F71-8BCB-8F7CC3F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一只 Bot 做好岗位，再扩展持续生产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A1CCB-A527-48D4-924D-5B613B8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3BC35-573E-49F7-AEA0-080C0BA3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个人 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8A090-7E7F-4B60-9FAE-188E19D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管消息、做任务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培养长期工作习惯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F3361-967C-4C1D-9B04-0D2E7D5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虚拟员工团队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E5DB9-EEAA-47DA-9367-DA214251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按岗位分工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统一进展与交付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D780B-8866-45F8-945D-5F20650B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黑灯软件工厂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2466B-4F85-49E4-B236-760AAC3D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接单、执行、质检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持续交付数字成果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9ABC9-C620-4E87-BBDA-CB5860A8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扩展依据：可验收的流程、稳定运行与成本控制</a:t>
            </a:r>
          </a:p>
        </p:txBody>
      </p:sp>
    </p:spTree>
    <p:extLst>
      <p:ext uri="{BB962C8B-B14F-4D97-AF65-F5344CB8AC3E}">
        <p14:creationId xmlns:p14="http://schemas.microsoft.com/office/powerpoint/2010/main" val="532106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7B08A-A249-4FE7-A98E-25A3EC87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当前进展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08F09-899D-4FB6-BC80-1518AAAC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已有能力基础，下一步验证真实使用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CB750-A5B1-4778-AAB6-C2916C25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369C7-15D0-4854-8146-2C04900E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已有产品基础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27F59-E009-4EFE-8D57-8415A255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长期主对话与目标</a:t>
            </a:r>
          </a:p>
          <a:p xmlns:a="http://schemas.openxmlformats.org/drawingml/2006/main">
            <a: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交付、记忆与技能范围</a:t>
            </a:r>
          </a:p>
          <a:p xmlns:a="http://schemas.openxmlformats.org/drawingml/2006/main">
            <a: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例行任务与部分协作恢复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21602-99F7-4750-A742-18B1789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接下来要证明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BCF9-85B5-4BF5-9935-06D2B52B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385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第一次委托能否顺利完成</a:t>
            </a:r>
          </a:p>
          <a:p xmlns:a="http://schemas.openxmlformats.org/drawingml/2006/main">
            <a: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连续工作能否稳定交付</a:t>
            </a:r>
          </a:p>
          <a:p xmlns:a="http://schemas.openxmlformats.org/drawingml/2006/main">
            <a:pPr>
              <a:def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用户是否持续使用并付费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916D1-F4AF-4A3D-8646-71A52CE2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产品规格中的已实现状态，不等于商业验证完成</a:t>
            </a:r>
          </a:p>
        </p:txBody>
      </p:sp>
    </p:spTree>
    <p:extLst>
      <p:ext uri="{BB962C8B-B14F-4D97-AF65-F5344CB8AC3E}">
        <p14:creationId xmlns:p14="http://schemas.microsoft.com/office/powerpoint/2010/main" val="1581434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DE895-D8C3-4BDB-AD81-FB64D8FF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资源需求  /  建议方案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3A92B-D622-420C-9CC5-E867F739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6 个月验证期的资源配置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B0A12-575B-4C4D-B34D-EAF42360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B11AB-0119-4E34-8AC1-36A09DCA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15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7B205-F69B-4A95-8D9F-A56BBA69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全职等效投入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65BA6-1A65-483A-A5D2-2AFA0FF2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42 人月 / 满配运行 6 个月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3FC32-A1E1-43C7-B13B-72111BC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开发与产品  4.5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DC58E-D29C-4DE4-B341-935EB972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194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产品 1 + 工程 3 + 测试 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E5526-C4E2-4944-AFB4-02F9B4FF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推广与营销  2.5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B5006-8BE8-491D-99F0-E8B5755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增长 1 + 客户成功 1 + 内容 0.5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18993-975B-480D-BECC-0180295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按实际团队缺口补齐，角色可以兼任；现金预算另按成本测算</a:t>
            </a:r>
          </a:p>
        </p:txBody>
      </p:sp>
    </p:spTree>
    <p:extLst>
      <p:ext uri="{BB962C8B-B14F-4D97-AF65-F5344CB8AC3E}">
        <p14:creationId xmlns:p14="http://schemas.microsoft.com/office/powerpoint/2010/main" val="588386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96FF0-8F2A-48C2-85B4-EA411C8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执行计划  /  目标假设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0BDAE-A2FA-4060-A6BD-D3523C7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三个阶段，把投入变成可验证结果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EEAF3-43D2-401B-9789-3BD91C40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A686-5257-4146-8D82-9E937F34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第 1 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62CFE-C725-4208-906D-017E9C8B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20 次需求访谈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2 个高频场景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2 类优先接入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198C7-9B33-4B56-A915-B6635D3C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第 2–3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7F137-47B5-4715-B74F-F92B8704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10 家设计伙伴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每家 4 周试点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交付与成本复盘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FCE04-32CD-446A-9739-829C3487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第 4–6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12A69-FBBB-4DD8-AF9D-568CD7C1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付费与续费验证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可引用的客户案例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决定渠道与资源扩张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657CE-AB27-4C95-822C-412D4B3D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阶段复盘看真实交付、留存与成本，未达标先修产品</a:t>
            </a:r>
          </a:p>
        </p:txBody>
      </p:sp>
    </p:spTree>
    <p:extLst>
      <p:ext uri="{BB962C8B-B14F-4D97-AF65-F5344CB8AC3E}">
        <p14:creationId xmlns:p14="http://schemas.microsoft.com/office/powerpoint/2010/main" val="1889395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3126D-28D8-4F88-B0D2-0E0E2AA0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投资与合作需求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93E72-6629-4C1D-BF34-99EFC1D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我们需要资金，也需要真实工作场景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4E99C-B0F3-4A67-AD33-EF2A04E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14787-32B4-466D-B60C-2D438539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资金支持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74DB2-1E82-43AB-B1B2-59F2906C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关键岗位投入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模型与运行资源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试点与获客实验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77710-DBE0-4D12-BD48-19CCABE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客户引荐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327F0-1309-4B72-9F8F-2776626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项目与运营负责人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10 家设计伙伴目标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可连续试用的场景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954C0-9F6E-4024-8B08-F24A4E5B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生态资源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30336-10FA-44D3-BD77-C64A523C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2 类优先软件接入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联合演示与社群</a:t>
            </a:r>
          </a:p>
          <a:p xmlns:a="http://schemas.openxmlformats.org/drawingml/2006/main">
            <a:pPr>
              <a:def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可归因的试验渠道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DABCF-1721-4F54-8360-A9C0C564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融资金额待成本核定；先对齐里程碑与资源缺口</a:t>
            </a:r>
          </a:p>
        </p:txBody>
      </p:sp>
    </p:spTree>
    <p:extLst>
      <p:ext uri="{BB962C8B-B14F-4D97-AF65-F5344CB8AC3E}">
        <p14:creationId xmlns:p14="http://schemas.microsoft.com/office/powerpoint/2010/main" val="1845545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888EB-C2EA-4C25-A695-845825A3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D906C-3842-4013-A37D-4F00C471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A3B8B0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DE932-A971-4456-B839-D16E8E25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一个越来越懂你的 Bot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5DB44-CEBC-4630-B7F8-7A4C9C0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425" b="1">
                <a:solidFill>
                  <a:srgbClr val="D9F38A"/>
                </a:solidFill>
                <a:latin typeface="Hiragino Sans GB"/>
                <a:ea typeface="Hiragino Sans GB"/>
                <a:cs typeface="Hiragino Sans GB"/>
              </a:rPr>
              <a:t>一段持续积累的工作关系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BC7AD-5687-40BD-823D-C3AECBBA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你只管目标，Bot 全天候为你工作</a:t>
            </a:r>
          </a:p>
        </p:txBody>
      </p:sp>
    </p:spTree>
    <p:extLst>
      <p:ext uri="{BB962C8B-B14F-4D97-AF65-F5344CB8AC3E}">
        <p14:creationId xmlns:p14="http://schemas.microsoft.com/office/powerpoint/2010/main" val="2915819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4A56F-9B3E-4E2F-96F0-8DC4D28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附录 A  /  4.5 FTE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1B2CB-9073-4250-8936-9BD277F0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开发：先把高频工作闭环做稳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9034D-0394-4406-9831-9A98DD88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BC8E6-D0DA-418E-9662-55189A2B03DB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047750"/>
                <a:gridCol w="7448550"/>
              </a:tblGrid>
              <a:tr h="568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投入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具体交付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产品负责人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访谈、范围、体验设计、验收与优先级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 / 后端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目标、记忆、任务恢复、可追溯交付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全栈工程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Bot 统一入口、首次任务、交付与配置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接入 / 可靠性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类高频接入、调度、监控、成本计量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 / 评估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回归用例、权限边界、长时运行检查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285E3-B205-4C10-BA18-76191581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外部支持：交互视觉约 10 人日，安全与隐私审阅约 5 人日</a:t>
            </a:r>
          </a:p>
        </p:txBody>
      </p:sp>
    </p:spTree>
    <p:extLst>
      <p:ext uri="{BB962C8B-B14F-4D97-AF65-F5344CB8AC3E}">
        <p14:creationId xmlns:p14="http://schemas.microsoft.com/office/powerpoint/2010/main" val="1029558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A93F7-D71E-44F7-9DCD-8D2CEB86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附录 B  /  增长 1 + 客户成功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FA09D-8A0B-4147-A28E-0DE8F911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推广：让目标用户进入可跟踪的试点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D82F3-A0C2-4EB0-8478-626F9FE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BABD3-71BF-4E31-881A-B1F322D275D8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448300"/>
                <a:gridCol w="371475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具体资源与动作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招募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 次访谈，目标招募 10 家设计伙伴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负责人明确，有高频真实任务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触达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个垂直社群渠道，每月 2 场演示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预约、有效试用来源可归因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激活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每家 4 周试点，每周 1 次结果复盘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首次有效交付、重复使用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转化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试点结束逐家提出付费方案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付费、拒绝原因、续用记录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19ADF-776C-4D59-8108-A8ADC47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客户成功同时记录人工支持时长，避免把服务成本藏在产品里</a:t>
            </a:r>
          </a:p>
        </p:txBody>
      </p:sp>
    </p:spTree>
    <p:extLst>
      <p:ext uri="{BB962C8B-B14F-4D97-AF65-F5344CB8AC3E}">
        <p14:creationId xmlns:p14="http://schemas.microsoft.com/office/powerpoint/2010/main" val="442568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B274C-AF9B-440A-AC5C-C43815A7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附录 C  /  内容 0.5，增长负责人统筹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96F71-CA30-4B79-9886-EDEE713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营销：让用户看懂价值并愿意尝试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3BC05-EA11-470E-9C63-CFFCF1F0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42DDA-6FB1-4D6F-BB7A-DB5D0C89C598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734050"/>
                <a:gridCol w="32385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具体需求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使用场景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产品落地页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页价值主张、3 个场景、预约入口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承接所有渠道流量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演示内容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支 90 秒短片 + 本套 9 分钟演示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首次理解、会议、销售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每周 2 条任务实录，每月 1 场工作坊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社群分发与产品教育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案例与销售包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试点后 2 份授权案例，FAQ、报价说明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试点转付费与伙伴介绍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5BC57-D721-4815-8F8D-16134772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优先渠道：专业内容与垂直社群；付费投放先做限额、可归因实验</a:t>
            </a:r>
          </a:p>
        </p:txBody>
      </p:sp>
    </p:spTree>
    <p:extLst>
      <p:ext uri="{BB962C8B-B14F-4D97-AF65-F5344CB8AC3E}">
        <p14:creationId xmlns:p14="http://schemas.microsoft.com/office/powerpoint/2010/main" val="18231783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C3603-C57A-41BD-B78C-AE18161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附录 D  /  规划数量，非市场报价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393C8-2F16-4D55-9866-FCB74A3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运行资源与现金预算口径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CE789-0FC0-4031-A196-EBC03C51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675AE-E7ED-42B1-94FE-74F64188C25B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619625"/>
                <a:gridCol w="3495675"/>
              </a:tblGrid>
              <a:tr h="579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建议数量 / 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预算计量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团队与外部专业支持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42 人月 + 15 外包人日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岗位全成本、合同报价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模型与运行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主备模型，开发 / 预发 / 生产 3 环境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调用量、并发、存储、监控账单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接入与交付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类接入测试账号，密钥库与备份恢复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授权与安全服务报价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获客与营销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落地页、视频、案例、社群及限额实验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按渠道记录成本和有效交付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现金储备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建议另留 15% 情景缓冲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以上已核定现金支出 × 15%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353D-04A2-4011-B35E-CE572CCE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融资测算 = 期间净现金需求 + 情景缓冲 − 可用资金</a:t>
            </a:r>
          </a:p>
        </p:txBody>
      </p:sp>
    </p:spTree>
    <p:extLst>
      <p:ext uri="{BB962C8B-B14F-4D97-AF65-F5344CB8AC3E}">
        <p14:creationId xmlns:p14="http://schemas.microsoft.com/office/powerpoint/2010/main" val="13329581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434D3-3FBF-4D6F-8A21-F9AFFB88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附录 E  /  首月建立基线，再确定门槛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ABF03-48CA-436A-8EA6-C1D3E629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验证指标决定下一笔投入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1FA63-A9B9-4AE5-9BCF-BEC9E1C8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D2EE4-70DB-4CDC-BAB5-8198E7D1BA28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191250"/>
                <a:gridCol w="2495550"/>
              </a:tblGrid>
              <a:tr h="587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指标口径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决策用途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用户能开始吗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首次有效交付耗时与完成率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是否继续简化接入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结果能用吗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接受交付 / 已评审交付，另报未评审数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修正目标场景与验收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愿意继续用吗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到期激活用户的第 4 周有效使用率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判断留存，再扩大渠道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自动化有效吗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无人介入完成 / 纳入观察的任务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确定可靠性投入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业务能成立吗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付费、续费及每次接受交付的全成本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定价、服务范围和扩张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17569-B8D2-46EC-A77F-2F9B61FA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缺失数据保留未知；计划目标与实际结果分开报告</a:t>
            </a:r>
          </a:p>
        </p:txBody>
      </p:sp>
    </p:spTree>
    <p:extLst>
      <p:ext uri="{BB962C8B-B14F-4D97-AF65-F5344CB8AC3E}">
        <p14:creationId xmlns:p14="http://schemas.microsoft.com/office/powerpoint/2010/main" val="109323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51C0F-7A45-448E-BBE4-68109762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5796A"/>
                </a:solidFill>
                <a:latin typeface="Hiragino Sans GB"/>
                <a:ea typeface="Hiragino Sans GB"/>
                <a:cs typeface="Hiragino Sans GB"/>
              </a:rPr>
              <a:t>附录 F  /  演讲者使用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33A98-2D3C-43B1-B3CE-C772874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83A37"/>
                </a:solidFill>
                <a:latin typeface="Hiragino Sans GB"/>
                <a:ea typeface="Hiragino Sans GB"/>
                <a:cs typeface="Hiragino Sans GB"/>
              </a:rPr>
              <a:t>演示切换与现场备用方案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6CED1-62B6-4E1B-BBAF-C99275B3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763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47F3F-7972-455F-AD59-7D4B8FCC835A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000625"/>
                <a:gridCol w="3305175"/>
              </a:tblGrid>
              <a:tr h="579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返回位置 / 备用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T w="9525">
                      <a:solidFill>
                        <a:srgbClr val="D6DED6"/>
                      </a:solidFill>
                    </a:lnT>
                    <a:lnB w="9525">
                      <a:solidFill>
                        <a:srgbClr val="D6DED6"/>
                      </a:solidFill>
                    </a:lnB>
                    <a:solidFill>
                      <a:srgbClr val="183A3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页，0:30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切 Bot：发送目标、开来源、看报告、保存例行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3:30 前返回第 3 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页，3:30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切历史：两次真实运行、一条工作记忆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4:30 返回第 4 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等待超过 20 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明确说明延迟，打开带日期的预演记录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不称为当前请求结果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缺少持续运行证据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只展示已验证的单次运行与任务配置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将连续运行列为待验证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ECEFE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资料与授权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ED6"/>
                      </a:solidFill>
                    </a:lnL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使用示例或获准材料，输出仅到演示 Bot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3A3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不临时接生产账号或代发消息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ED6"/>
                      </a:solidFill>
                    </a:lnR>
                    <a:lnB w="9525">
                      <a:solidFill>
                        <a:srgbClr val="D6DED6"/>
                      </a:solidFill>
                    </a:lnB>
                    <a:solidFill>
                      <a:srgbClr val="F5F3E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4908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2026-10-23T10:59:21.4640000Z</dcterms:created>
  <dcterms:modified xsi:type="dcterms:W3CDTF">2026-10-23T10:59:21.4640000Z</dcterms:modified>
</coreProperties>
</file>